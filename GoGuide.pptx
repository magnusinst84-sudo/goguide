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p S" userId="9d41983cd6f5b8a1" providerId="LiveId" clId="{BAD34EFE-408F-49C2-B604-753184BDD65B}"/>
    <pc:docChg chg="modSld">
      <pc:chgData name="Anup S" userId="9d41983cd6f5b8a1" providerId="LiveId" clId="{BAD34EFE-408F-49C2-B604-753184BDD65B}" dt="2026-10-07T08:50:46.703" v="14" actId="20577"/>
      <pc:docMkLst>
        <pc:docMk/>
      </pc:docMkLst>
      <pc:sldChg chg="modSp mod">
        <pc:chgData name="Anup S" userId="9d41983cd6f5b8a1" providerId="LiveId" clId="{BAD34EFE-408F-49C2-B604-753184BDD65B}" dt="2026-10-07T08:50:46.703" v="14" actId="20577"/>
        <pc:sldMkLst>
          <pc:docMk/>
          <pc:sldMk cId="0" sldId="256"/>
        </pc:sldMkLst>
        <pc:spChg chg="mod">
          <ac:chgData name="Anup S" userId="9d41983cd6f5b8a1" providerId="LiveId" clId="{BAD34EFE-408F-49C2-B604-753184BDD65B}" dt="2026-10-07T08:50:46.703" v="14" actId="20577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03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5568696"/>
            <a:ext cx="219456" cy="164592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" y="5733288"/>
            <a:ext cx="219456" cy="16459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5897880"/>
            <a:ext cx="219456" cy="164592"/>
          </a:xfrm>
          <a:prstGeom prst="rect">
            <a:avLst/>
          </a:prstGeom>
          <a:solidFill>
            <a:srgbClr val="FF1A8C"/>
          </a:solidFill>
          <a:ln/>
        </p:spPr>
      </p:sp>
      <p:sp>
        <p:nvSpPr>
          <p:cNvPr id="5" name="Shape 3"/>
          <p:cNvSpPr/>
          <p:nvPr/>
        </p:nvSpPr>
        <p:spPr>
          <a:xfrm>
            <a:off x="539496" y="6062472"/>
            <a:ext cx="219456" cy="164592"/>
          </a:xfrm>
          <a:prstGeom prst="rect">
            <a:avLst/>
          </a:prstGeom>
          <a:solidFill>
            <a:srgbClr val="0BA0D4"/>
          </a:solidFill>
          <a:ln/>
        </p:spPr>
      </p:sp>
      <p:sp>
        <p:nvSpPr>
          <p:cNvPr id="6" name="Shape 4"/>
          <p:cNvSpPr/>
          <p:nvPr/>
        </p:nvSpPr>
        <p:spPr>
          <a:xfrm>
            <a:off x="-457200" y="1060704"/>
            <a:ext cx="1316736" cy="329184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7" name="Shape 5"/>
          <p:cNvSpPr/>
          <p:nvPr/>
        </p:nvSpPr>
        <p:spPr>
          <a:xfrm>
            <a:off x="-457200" y="1444752"/>
            <a:ext cx="1728216" cy="329184"/>
          </a:xfrm>
          <a:prstGeom prst="rect">
            <a:avLst/>
          </a:prstGeom>
          <a:solidFill>
            <a:srgbClr val="0BA0D4"/>
          </a:solidFill>
          <a:ln/>
        </p:spPr>
      </p:sp>
      <p:sp>
        <p:nvSpPr>
          <p:cNvPr id="8" name="Shape 6"/>
          <p:cNvSpPr/>
          <p:nvPr/>
        </p:nvSpPr>
        <p:spPr>
          <a:xfrm>
            <a:off x="-457200" y="1856232"/>
            <a:ext cx="1316736" cy="329184"/>
          </a:xfrm>
          <a:prstGeom prst="rect">
            <a:avLst/>
          </a:prstGeom>
          <a:solidFill>
            <a:srgbClr val="FF1A8C"/>
          </a:solidFill>
          <a:ln/>
        </p:spPr>
      </p:sp>
      <p:sp>
        <p:nvSpPr>
          <p:cNvPr id="9" name="Shape 7"/>
          <p:cNvSpPr/>
          <p:nvPr/>
        </p:nvSpPr>
        <p:spPr>
          <a:xfrm>
            <a:off x="9400032" y="612648"/>
            <a:ext cx="109728" cy="109728"/>
          </a:xfrm>
          <a:prstGeom prst="rect">
            <a:avLst/>
          </a:prstGeom>
          <a:solidFill>
            <a:srgbClr val="FFFFF0"/>
          </a:solidFill>
          <a:ln w="19050">
            <a:solidFill>
              <a:srgbClr val="FF1A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03336" y="1014984"/>
            <a:ext cx="109728" cy="109728"/>
          </a:xfrm>
          <a:prstGeom prst="rect">
            <a:avLst/>
          </a:prstGeom>
          <a:solidFill>
            <a:srgbClr val="FFFFF0"/>
          </a:solidFill>
          <a:ln w="19050">
            <a:solidFill>
              <a:srgbClr val="FF1A8C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5568696"/>
            <a:ext cx="219456" cy="164592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" y="5733288"/>
            <a:ext cx="219456" cy="16459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" y="5897880"/>
            <a:ext cx="219456" cy="164592"/>
          </a:xfrm>
          <a:prstGeom prst="rect">
            <a:avLst/>
          </a:prstGeom>
          <a:solidFill>
            <a:srgbClr val="FF1A8C"/>
          </a:solidFill>
          <a:ln/>
        </p:spPr>
      </p:sp>
      <p:sp>
        <p:nvSpPr>
          <p:cNvPr id="5" name="Shape 3"/>
          <p:cNvSpPr/>
          <p:nvPr/>
        </p:nvSpPr>
        <p:spPr>
          <a:xfrm>
            <a:off x="539496" y="6062472"/>
            <a:ext cx="219456" cy="164592"/>
          </a:xfrm>
          <a:prstGeom prst="rect">
            <a:avLst/>
          </a:prstGeom>
          <a:solidFill>
            <a:srgbClr val="0BA0D4"/>
          </a:solidFill>
          <a:ln/>
        </p:spPr>
      </p:sp>
      <p:sp>
        <p:nvSpPr>
          <p:cNvPr id="6" name="Shape 4"/>
          <p:cNvSpPr/>
          <p:nvPr/>
        </p:nvSpPr>
        <p:spPr>
          <a:xfrm>
            <a:off x="-457200" y="2194560"/>
            <a:ext cx="1316736" cy="329184"/>
          </a:xfrm>
          <a:prstGeom prst="rect">
            <a:avLst/>
          </a:prstGeom>
          <a:solidFill>
            <a:srgbClr val="FF1A8C"/>
          </a:solidFill>
          <a:ln/>
        </p:spPr>
      </p:sp>
      <p:sp>
        <p:nvSpPr>
          <p:cNvPr id="7" name="Shape 5"/>
          <p:cNvSpPr/>
          <p:nvPr/>
        </p:nvSpPr>
        <p:spPr>
          <a:xfrm>
            <a:off x="-457200" y="2587752"/>
            <a:ext cx="1728216" cy="329184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8" name="Shape 6"/>
          <p:cNvSpPr/>
          <p:nvPr/>
        </p:nvSpPr>
        <p:spPr>
          <a:xfrm>
            <a:off x="-457200" y="2990088"/>
            <a:ext cx="1316736" cy="329184"/>
          </a:xfrm>
          <a:prstGeom prst="rect">
            <a:avLst/>
          </a:prstGeom>
          <a:solidFill>
            <a:srgbClr val="0BA0D4"/>
          </a:solidFill>
          <a:ln/>
        </p:spPr>
      </p:sp>
      <p:sp>
        <p:nvSpPr>
          <p:cNvPr id="9" name="Shape 7"/>
          <p:cNvSpPr/>
          <p:nvPr/>
        </p:nvSpPr>
        <p:spPr>
          <a:xfrm>
            <a:off x="9582912" y="1033272"/>
            <a:ext cx="109728" cy="109728"/>
          </a:xfrm>
          <a:prstGeom prst="rect">
            <a:avLst/>
          </a:prstGeom>
          <a:solidFill>
            <a:srgbClr val="FFFFF0"/>
          </a:solidFill>
          <a:ln w="19050">
            <a:solidFill>
              <a:srgbClr val="FF1A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5650992"/>
            <a:ext cx="109728" cy="109728"/>
          </a:xfrm>
          <a:prstGeom prst="rect">
            <a:avLst/>
          </a:prstGeom>
          <a:solidFill>
            <a:srgbClr val="FFFFF0"/>
          </a:solidFill>
          <a:ln w="19050">
            <a:solidFill>
              <a:srgbClr val="FF1A8C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45920" y="914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DATAQUEST 3.0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184708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1A8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ROUND 1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627632" y="2578608"/>
            <a:ext cx="10561320" cy="0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27632" y="3236976"/>
            <a:ext cx="4581144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56816" y="3086100"/>
            <a:ext cx="1591056" cy="301752"/>
          </a:xfrm>
          <a:prstGeom prst="roundRect">
            <a:avLst>
              <a:gd name="adj" fmla="val 50000"/>
            </a:avLst>
          </a:prstGeom>
          <a:solidFill>
            <a:srgbClr val="0BA0D4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56816" y="3086100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PROJECT DETAILS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975104" y="3557016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PROJECT TITLE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F1A8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GOGUIDE: STEAM career guidance for students </a:t>
            </a:r>
            <a:r>
              <a:rPr lang="en-US" sz="1700" b="1">
                <a:solidFill>
                  <a:srgbClr val="FF1A8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and parents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student and a parent evaluate careers together: the engine removes what the family cannot afford, ranks the rest with every score explained, and shows where they disagree.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TRACK</a:t>
            </a:r>
            <a:endParaRPr lang="en-US" sz="13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A0D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DQNM · Nano Mech Labs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73952" y="3236976"/>
            <a:ext cx="4581144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03136" y="3086100"/>
            <a:ext cx="1591056" cy="301752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03136" y="3086100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TEAM &amp; MEMBERS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821424" y="3557016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TEAM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 </a:t>
            </a:r>
            <a:r>
              <a:rPr lang="en-US" sz="2000" b="1" dirty="0" err="1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Pazhampori</a:t>
            </a:r>
            <a:r>
              <a:rPr lang="en-US" sz="20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]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PARTICIPANTS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Anup S— [ 25BCE5399 ]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Ayaan Saju — [ 25BCE5578 ]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Akshay Sunil  — [ 25BCE5479 ]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Tanmay Nair — [ 25BCE5539 ]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45920" y="384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DATAQUEST 3.0 · ROUND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603504"/>
            <a:ext cx="82296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1A8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514600" y="603504"/>
            <a:ext cx="73152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Problem Definition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627632" y="1444752"/>
            <a:ext cx="10561320" cy="0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5361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Who is impacted · Today's workarounds · Why current methods fail · Concrete proof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27632" y="2048256"/>
            <a:ext cx="4581144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56816" y="1897380"/>
            <a:ext cx="1591056" cy="301752"/>
          </a:xfrm>
          <a:prstGeom prst="roundRect">
            <a:avLst>
              <a:gd name="adj" fmla="val 50000"/>
            </a:avLst>
          </a:prstGeom>
          <a:solidFill>
            <a:srgbClr val="0BA0D4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56816" y="1897380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01 · AUDIENCE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975104" y="234086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WHO &amp; HOW OFTEN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975104" y="2706624"/>
            <a:ext cx="38862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Students choosing a stream, course or career, and the parents who pay for it. The decision is made at a few fixed and is hard to reverse.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73952" y="2048256"/>
            <a:ext cx="4581144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03136" y="1897380"/>
            <a:ext cx="1591056" cy="301752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03136" y="1897380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02 · STATUS QUO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821424" y="234086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CURRENT APPROACH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21424" y="2706624"/>
            <a:ext cx="38862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Family discussion, relatives opinions, generic interest quizzes and general-purpose chatbots. Parents are rarely part of the analysis, and costs are checked late, if at all.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27632" y="4379976"/>
            <a:ext cx="4581144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956816" y="4229100"/>
            <a:ext cx="1591056" cy="301752"/>
          </a:xfrm>
          <a:prstGeom prst="roundRect">
            <a:avLst>
              <a:gd name="adj" fmla="val 50000"/>
            </a:avLst>
          </a:prstGeom>
          <a:solidFill>
            <a:srgbClr val="FF1A8C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56816" y="4229100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03 · DEFICIENCY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975104" y="46725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WHY IT FALLS SHORT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975104" y="5038344"/>
            <a:ext cx="38862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No view of demand by city, no link between course cost, salary and loan repayment, and no way to see where student and parent disagree. The result is debt or conflict.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73952" y="4379976"/>
            <a:ext cx="4581144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4229100"/>
            <a:ext cx="1591056" cy="301752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03136" y="4229100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04 · VALIDATION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821424" y="46725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EVIDENCE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821424" y="5038344"/>
            <a:ext cx="38862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Over 90% of Indian students lack structured guidance, but gives no source, so it is not stated as fact.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45920" y="384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DATAQUEST 3.0 · ROUND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603504"/>
            <a:ext cx="82296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1A8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514600" y="603504"/>
            <a:ext cx="73152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Proposed Solution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627632" y="1444752"/>
            <a:ext cx="10561320" cy="0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5361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System identity · End-to-end user workflow · Competitive advantages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27632" y="2011680"/>
            <a:ext cx="9427464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56816" y="1860804"/>
            <a:ext cx="1591056" cy="301752"/>
          </a:xfrm>
          <a:prstGeom prst="roundRect">
            <a:avLst>
              <a:gd name="adj" fmla="val 50000"/>
            </a:avLst>
          </a:prstGeom>
          <a:solidFill>
            <a:srgbClr val="FF1A8C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56816" y="1860804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SOLUTION CORE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975104" y="2258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PRISM ENGINE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975104" y="2606040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Takes the student's interests and skills plus the parent's money limits and risk appetite, removes careers the family cannot afford, and ranks the rest with a full score breakdown, a compromise path and a roadmap.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627632" y="3374136"/>
            <a:ext cx="9427464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56816" y="3223260"/>
            <a:ext cx="1591056" cy="301752"/>
          </a:xfrm>
          <a:prstGeom prst="roundRect">
            <a:avLst>
              <a:gd name="adj" fmla="val 50000"/>
            </a:avLst>
          </a:prstGeom>
          <a:solidFill>
            <a:srgbClr val="0BA0D4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56816" y="3223260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USER FLOW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20240" y="3822192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BA0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011680" y="38587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1. USER INPUT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Student: interests, skills, city. Parent: savings, loan cap, risk, expected careers.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0050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➔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074920" y="3822192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FB8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66360" y="38587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2. PROCESSING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Vectors, affordability gate, fit, conflict, market, financial and risk scores.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40050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➔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229600" y="3822192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F1A8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38587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3. 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Ranked careers with breakdown, blocked reasons, compromise, gaps, roadmap.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27632" y="4882896"/>
            <a:ext cx="4581144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956816" y="4732020"/>
            <a:ext cx="1591056" cy="301752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56816" y="4732020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ADVANTAGE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975104" y="51755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WHY IT IS BETTER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975104" y="5541264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Money is a pass/fail gate, not a soft score, and every number traces to a cited data field.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73952" y="4882896"/>
            <a:ext cx="4581144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03136" y="4732020"/>
            <a:ext cx="1591056" cy="301752"/>
          </a:xfrm>
          <a:prstGeom prst="roundRect">
            <a:avLst>
              <a:gd name="adj" fmla="val 50000"/>
            </a:avLst>
          </a:prstGeom>
          <a:solidFill>
            <a:srgbClr val="FF1A8C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03136" y="4732020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INNOVATION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821424" y="51755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IS DIFFERENT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821424" y="5541264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Centered cosine separates profiles that look identical when uncentered, and the parent is a second input, not an afterthought.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45920" y="384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DATAQUEST 3.0 · ROUND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603504"/>
            <a:ext cx="82296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1A8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514600" y="603504"/>
            <a:ext cx="73152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627632" y="1444752"/>
            <a:ext cx="10561320" cy="0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5361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System diagram is the primary visual · Engineering decisions · Validation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27632" y="2011680"/>
            <a:ext cx="9427464" cy="2642616"/>
          </a:xfrm>
          <a:prstGeom prst="roundRect">
            <a:avLst>
              <a:gd name="adj" fmla="val 4152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56816" y="1860804"/>
            <a:ext cx="1591056" cy="301752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56816" y="1860804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SYSTEM DIAGRAM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20240" y="2322576"/>
            <a:ext cx="88422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251460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BA0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59152" y="256032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Browser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Next.js · TypeScript · Tailwind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0" y="352044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FB8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59152" y="356616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Firebase Auth + Firestore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(raw answers only)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12080" y="25146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5400">
            <a:solidFill>
              <a:srgbClr val="FF1A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85232" y="2560320"/>
            <a:ext cx="25054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FastAPI (stateless)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/api/score → prism_engine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/api/demand → Adzuna proxy + cache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/api/explain (P2)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95360" y="251460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68512" y="256032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JSON reference 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careers · scholarships · snapshot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595360" y="35204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68512" y="356616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Adzuna 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(live job counts)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89120" y="2880360"/>
            <a:ext cx="822960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337560" y="3246120"/>
            <a:ext cx="0" cy="27432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863840" y="2880360"/>
            <a:ext cx="731520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863840" y="3886200"/>
            <a:ext cx="731520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627632" y="4882896"/>
            <a:ext cx="2962656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956816" y="4732020"/>
            <a:ext cx="1097280" cy="301752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956816" y="473202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TECH 01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856232" y="515721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KEY TECHNICAL DECISION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856232" y="5477256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Stateless FastAPI with a pure scoring package: same input, same output, easy to test. Firebase avoids writing auth code.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55464" y="4882896"/>
            <a:ext cx="2962656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184648" y="4732020"/>
            <a:ext cx="1097280" cy="301752"/>
          </a:xfrm>
          <a:prstGeom prst="roundRect">
            <a:avLst>
              <a:gd name="adj" fmla="val 50000"/>
            </a:avLst>
          </a:prstGeom>
          <a:solidFill>
            <a:srgbClr val="FF1A8C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84648" y="473202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TECH 02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5084064" y="515721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HARDEST PART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084064" y="5477256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Zero or one feasible career crashed ROI normalization in the reference run; fixed with an empty-set return and a 0.5 default.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83296" y="4882896"/>
            <a:ext cx="2962656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412480" y="4732020"/>
            <a:ext cx="1097280" cy="301752"/>
          </a:xfrm>
          <a:prstGeom prst="roundRect">
            <a:avLst>
              <a:gd name="adj" fmla="val 50000"/>
            </a:avLst>
          </a:prstGeom>
          <a:solidFill>
            <a:srgbClr val="0BA0D4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412480" y="473202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TECH 03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8311896" y="515721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8311896" y="5477256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Reference run (illustrative data): centered conflict index 0.611 vs 0.12 uncentered. Planned: pytest gate edges, Python/TypeScript parity, offline run.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45920" y="384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DATAQUEST 3.0 · ROUND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603504"/>
            <a:ext cx="82296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1A8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514600" y="603504"/>
            <a:ext cx="73152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Feasibility &amp; Scope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627632" y="1444752"/>
            <a:ext cx="10561320" cy="0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5361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Concrete boundaries · Operational run rate · Risk mitigation · Post-hackathon plans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27632" y="2048256"/>
            <a:ext cx="4581144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56816" y="1897380"/>
            <a:ext cx="1591056" cy="301752"/>
          </a:xfrm>
          <a:prstGeom prst="roundRect">
            <a:avLst>
              <a:gd name="adj" fmla="val 50000"/>
            </a:avLst>
          </a:prstGeom>
          <a:solidFill>
            <a:srgbClr val="0BA0D4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56816" y="1897380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01 · BOUNDARIES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975104" y="234086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1. SCOPE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975104" y="2706624"/>
            <a:ext cx="38862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In: student and parent forms, 20 to 30 sourced careers, affordability gate, ranking, conflict, gaps, roadmap, scholarships, sliders, offline demo.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Out: admission-probability model, study abroad, caste-based scholarships, production-scale security.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73952" y="2048256"/>
            <a:ext cx="4581144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03136" y="1897380"/>
            <a:ext cx="1591056" cy="301752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03136" y="1897380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02 · ECONOMICS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821424" y="234086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2. RUNNING COST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21424" y="2706624"/>
            <a:ext cx="38862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Free tiers: Vercel (frontend), Render or Cloud Run (backend), Firebase. No database server; reference data is JSON in the repo.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27632" y="4379976"/>
            <a:ext cx="4581144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956816" y="4229100"/>
            <a:ext cx="1591056" cy="301752"/>
          </a:xfrm>
          <a:prstGeom prst="roundRect">
            <a:avLst>
              <a:gd name="adj" fmla="val 50000"/>
            </a:avLst>
          </a:prstGeom>
          <a:solidFill>
            <a:srgbClr val="FF1A8C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56816" y="4229100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03 · CONTINGENCY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975104" y="46725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3. RISKS &amp; FALLBACK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975104" y="5038344"/>
            <a:ext cx="38862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Live API down: dated snapshot data. Cold start on free hosting: localhost demo and a /health warm-up. No network: demo profile loads from fixtures. Dataset slips: ship 20 careers, never invent values.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73952" y="4379976"/>
            <a:ext cx="4581144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4229100"/>
            <a:ext cx="1591056" cy="301752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03136" y="4229100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04 · HORIZON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821424" y="46725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4. AFTER THE HACKATHON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821424" y="5038344"/>
            <a:ext cx="38862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Validate fit against real student outcomes, verifiable parental consent and a data-protection review (DPDP Act 2023), more careers and cities, objective skill tests.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66BEE3-FA14-7E8D-569C-1EB54D289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483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45920" y="384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DATAQUEST 3.0 · ROUND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603504"/>
            <a:ext cx="82296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1A8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06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514600" y="603504"/>
            <a:ext cx="73152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Impact &amp; Metrics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627632" y="1444752"/>
            <a:ext cx="10561320" cy="0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5361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Primary measurable impact · Transparent calculation · Stakeholder advantages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27632" y="2011680"/>
            <a:ext cx="9427464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56816" y="1860804"/>
            <a:ext cx="1591056" cy="301752"/>
          </a:xfrm>
          <a:prstGeom prst="roundRect">
            <a:avLst>
              <a:gd name="adj" fmla="val 50000"/>
            </a:avLst>
          </a:prstGeom>
          <a:solidFill>
            <a:srgbClr val="FF1A8C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56816" y="1860804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PRIMARY METRIC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2331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1A8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100%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3200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of recommendations show a full component breakdown (design target)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HOW IT WAS MEASURED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267004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Automated check on every /score response: each ranked career must carry fit, market, financial, risk and conflict values. A dataset audit fails the build if any field has no source or 'estimate' label. 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27632" y="4114800"/>
            <a:ext cx="2962656" cy="2414016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56816" y="3963924"/>
            <a:ext cx="1097280" cy="301752"/>
          </a:xfrm>
          <a:prstGeom prst="roundRect">
            <a:avLst>
              <a:gd name="adj" fmla="val 50000"/>
            </a:avLst>
          </a:prstGeom>
          <a:solidFill>
            <a:srgbClr val="0BA0D4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56816" y="396392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IMPACT 01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856232" y="440740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 IMPROVES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856232" y="4773168"/>
            <a:ext cx="25054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Instead of one opinion, the family sees a ranked list, the rupee gap for blocked careers, and the exact score components.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55464" y="4114800"/>
            <a:ext cx="2962656" cy="2414016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84648" y="3963924"/>
            <a:ext cx="1097280" cy="301752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84648" y="396392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IMPACT 02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5084064" y="440740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WHO ELSE BENEFITS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084064" y="4773168"/>
            <a:ext cx="25054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Counsellors and schools get an explainable tool; exam and scholarship deadlines surface early; local projects link skills to city problems.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83296" y="4114800"/>
            <a:ext cx="2962656" cy="2414016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0" y="3963924"/>
            <a:ext cx="1097280" cy="301752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0" y="396392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IMPACT 03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311896" y="440740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RISKS / MISUSE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311896" y="4773168"/>
            <a:ext cx="25054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Default weights favor parent-safe careers (exposed as sliders). Minors' finance data: consent, raw answers only, delete button, no caste data.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45920" y="384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DATAQUEST 3.0 · ROUND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603504"/>
            <a:ext cx="82296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1A8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07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514600" y="603504"/>
            <a:ext cx="73152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Why This </a:t>
            </a:r>
            <a:r>
              <a:rPr lang="en-US" sz="4000" b="1" dirty="0" err="1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Project?s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627632" y="1444752"/>
            <a:ext cx="10561320" cy="0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53619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Direct contrast with today's alternatives · Unfair technical advantage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27632" y="2011680"/>
            <a:ext cx="4581144" cy="2642616"/>
          </a:xfrm>
          <a:prstGeom prst="roundRect">
            <a:avLst>
              <a:gd name="adj" fmla="val 4152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56816" y="1860804"/>
            <a:ext cx="1591056" cy="301752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56816" y="1860804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STATUS QUO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975104" y="230428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CURRENT APPROACH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975104" y="2670048"/>
            <a:ext cx="388620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Generic quizzes and chatbots take one person's input, return an unexplained answer, ignore what the family can afford, and can produce numbers nobody can source.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73952" y="2011680"/>
            <a:ext cx="4581144" cy="2642616"/>
          </a:xfrm>
          <a:prstGeom prst="roundRect">
            <a:avLst>
              <a:gd name="adj" fmla="val 4152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03136" y="1860804"/>
            <a:ext cx="1591056" cy="301752"/>
          </a:xfrm>
          <a:prstGeom prst="roundRect">
            <a:avLst>
              <a:gd name="adj" fmla="val 50000"/>
            </a:avLst>
          </a:prstGeom>
          <a:solidFill>
            <a:srgbClr val="0BA0D4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03136" y="1860804"/>
            <a:ext cx="159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OUR SOLUTION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821424" y="230428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21424" y="2670048"/>
            <a:ext cx="388620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Two inputs (student and parent), a rupee-based affordability gate that removes careers, deterministic scoring, and sourced data. A language model, if used, only rephrases computed results.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27632" y="4882896"/>
            <a:ext cx="9427464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956816" y="4732020"/>
            <a:ext cx="2103120" cy="301752"/>
          </a:xfrm>
          <a:prstGeom prst="roundRect">
            <a:avLst>
              <a:gd name="adj" fmla="val 50000"/>
            </a:avLst>
          </a:prstGeom>
          <a:solidFill>
            <a:srgbClr val="FF1A8C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56816" y="473202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MOAT / DIFFERENTIATION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975104" y="51755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1A8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KEY DIFFERENCE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975104" y="5541264"/>
            <a:ext cx="8732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engine measures student–parent conflict per career and checks affordability in rupees before ranking, so every recommendation is feasible, explained, and traceable to a cited field.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645920" y="384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B2B2B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DATAQUEST 3.0 · ROUND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603504"/>
            <a:ext cx="82296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1A8C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08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514600" y="603504"/>
            <a:ext cx="73152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latin typeface="+mj-lt"/>
              </a:rPr>
              <a:t>Formula Used</a:t>
            </a:r>
          </a:p>
        </p:txBody>
      </p:sp>
      <p:sp>
        <p:nvSpPr>
          <p:cNvPr id="5" name="Shape 3"/>
          <p:cNvSpPr/>
          <p:nvPr/>
        </p:nvSpPr>
        <p:spPr>
          <a:xfrm>
            <a:off x="1627632" y="1444752"/>
            <a:ext cx="10561320" cy="0"/>
          </a:xfrm>
          <a:prstGeom prst="line">
            <a:avLst/>
          </a:prstGeom>
          <a:noFill/>
          <a:ln w="28575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27632" y="2011680"/>
            <a:ext cx="9427464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8575">
            <a:solidFill>
              <a:srgbClr val="2B2B2B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56816" y="1860804"/>
            <a:ext cx="1737360" cy="301752"/>
          </a:xfrm>
          <a:prstGeom prst="roundRect">
            <a:avLst>
              <a:gd name="adj" fmla="val 50000"/>
            </a:avLst>
          </a:prstGeom>
          <a:solidFill>
            <a:srgbClr val="0BA0D4"/>
          </a:solidFill>
          <a:ln w="25400">
            <a:solidFill>
              <a:srgbClr val="2B2B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56816" y="1860804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SCORING FORMULA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975104" y="2331720"/>
            <a:ext cx="8732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Score = Gate × (0.40·Fit + 0.30·Market + 0.15·Financial + 0.15·RiskCompat) − 0.20·Conflict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975104" y="2788920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Gate = 1 only if funding need ≤ loan cap and EMI ≤ 40% of entry salary. Weights are design choices, exposed as sliders.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swa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Quicksan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1160</Words>
  <Application>Microsoft Office PowerPoint</Application>
  <PresentationFormat>Widescreen</PresentationFormat>
  <Paragraphs>142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Oswald</vt:lpstr>
      <vt:lpstr>Quicksand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PRISM Engine - DataQuest 3.0 Round 1</dc:title>
  <dc:subject>PptxGenJS Presentation</dc:subject>
  <dc:creator>PptxGenJS</dc:creator>
  <cp:lastModifiedBy>Tanmay Nair</cp:lastModifiedBy>
  <cp:revision>5</cp:revision>
  <dcterms:created xsi:type="dcterms:W3CDTF">2026-10-07T07:05:20Z</dcterms:created>
  <dcterms:modified xsi:type="dcterms:W3CDTF">2026-10-08T04:19:35Z</dcterms:modified>
</cp:coreProperties>
</file>